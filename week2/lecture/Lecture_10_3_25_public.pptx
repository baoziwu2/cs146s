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Robot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11" Type="http://schemas.openxmlformats.org/officeDocument/2006/relationships/slide" Target="slides/slide6.xml"/><Relationship Id="rId22" Type="http://schemas.openxmlformats.org/officeDocument/2006/relationships/font" Target="fonts/Roboto-boldItalic.fntdata"/><Relationship Id="rId10" Type="http://schemas.openxmlformats.org/officeDocument/2006/relationships/slide" Target="slides/slide5.xml"/><Relationship Id="rId21" Type="http://schemas.openxmlformats.org/officeDocument/2006/relationships/font" Target="fonts/Roboto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9fd9a61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9fd9a61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7c3ca00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7c3ca00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c53c6a7a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c53c6a7a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Recall what we did in the last class, this was like the pre-MCP days. The APIs were pretty well-formatted so getting the LLM to use them wasn’t super challenging.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7c3ca004c0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7c3ca004c0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want to enable your LLM to access a 3rd party API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But think of all the things that could be challenging: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Poor documentation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Inconsistent data exchange formats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Authentication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Error handling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onus is on your to interpret all of those factors for this API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c3ca004c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7c3ca004c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 imagine having to do that for 100s of APIs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c3ca004c0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c3ca004c0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Now imagine integrating many LLM apps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It’s a mess: NxM </a:t>
            </a:r>
            <a:r>
              <a:rPr lang="en"/>
              <a:t>connectors</a:t>
            </a:r>
            <a:r>
              <a:rPr lang="en"/>
              <a:t> across LLM apps and API integration points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c3ca004c0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7c3ca004c0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c3ca004c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c3ca004c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7c3ca004c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7c3ca004c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bf95132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7bf95132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Test list_files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Test edit_file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You can see the tool being called by the MCP server, though we have to be a bit more explicit about mentioning what server to use since there are a lot of tools. </a:t>
            </a:r>
            <a:endParaRPr sz="1150">
              <a:solidFill>
                <a:srgbClr val="595959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Mitigations: https://arxiv.org/pdf/2505.03275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c53c6a7a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7c53c6a7a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Discuss Cursor hard limit on # of tools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ea7c0ae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ea7c0ae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Discuss Cursor hard limit on # of tools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.png"/><Relationship Id="rId11" Type="http://schemas.openxmlformats.org/officeDocument/2006/relationships/image" Target="../media/image6.png"/><Relationship Id="rId10" Type="http://schemas.openxmlformats.org/officeDocument/2006/relationships/image" Target="../media/image5.png"/><Relationship Id="rId9" Type="http://schemas.openxmlformats.org/officeDocument/2006/relationships/image" Target="../media/image1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11" Type="http://schemas.openxmlformats.org/officeDocument/2006/relationships/image" Target="../media/image14.png"/><Relationship Id="rId10" Type="http://schemas.openxmlformats.org/officeDocument/2006/relationships/image" Target="../media/image12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0" y="1724275"/>
            <a:ext cx="8520600" cy="116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MCP and Beyond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have vast (but static) world knowledge that only updates when we retrain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build fully autonomous systems we need robust ways to feed dynamic data 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What’s the weather today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Who’s president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What’s the price of Bitcoin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Who’s the narrator in Nike’s latest ad campaign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RAG and tool-calling are the best answer we have today</a:t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</a:t>
            </a:r>
            <a:r>
              <a:rPr lang="en"/>
              <a:t>odel </a:t>
            </a:r>
            <a:r>
              <a:rPr b="1" lang="en"/>
              <a:t>C</a:t>
            </a:r>
            <a:r>
              <a:rPr lang="en"/>
              <a:t>ontext </a:t>
            </a:r>
            <a:r>
              <a:rPr b="1" lang="en"/>
              <a:t>P</a:t>
            </a:r>
            <a:r>
              <a:rPr lang="en"/>
              <a:t>rotocol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Open protocol that allows systems to provide context to AI models in a manner generalizable across integrations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In English: standard format for exposing tools to LLMs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History: in the distant past pre-November 2024 when MCP was introduced…</a:t>
            </a:r>
            <a:endParaRPr sz="1800"/>
          </a:p>
        </p:txBody>
      </p:sp>
      <p:sp>
        <p:nvSpPr>
          <p:cNvPr id="81" name="Google Shape;81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3693572" y="872069"/>
            <a:ext cx="3953100" cy="3762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90" name="Google Shape;90;p17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050" y="1987594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0472" y="944719"/>
            <a:ext cx="1134825" cy="638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1672" y="1615919"/>
            <a:ext cx="3512426" cy="2748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" name="Google Shape;93;p17"/>
          <p:cNvCxnSpPr/>
          <p:nvPr/>
        </p:nvCxnSpPr>
        <p:spPr>
          <a:xfrm>
            <a:off x="2390075" y="2365844"/>
            <a:ext cx="99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" name="Google Shape;94;p17"/>
          <p:cNvCxnSpPr/>
          <p:nvPr/>
        </p:nvCxnSpPr>
        <p:spPr>
          <a:xfrm rot="10800000">
            <a:off x="2364835" y="2518244"/>
            <a:ext cx="993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7"/>
          <p:cNvSpPr txBox="1"/>
          <p:nvPr/>
        </p:nvSpPr>
        <p:spPr>
          <a:xfrm>
            <a:off x="2602625" y="2492998"/>
            <a:ext cx="568200" cy="3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2156300" y="2034794"/>
            <a:ext cx="1563000" cy="2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What APIs do you expose?</a:t>
            </a:r>
            <a:endParaRPr b="1" i="1"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2108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 integrating with a questionable 3rd party API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4253750" y="863975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05" name="Google Shape;105;p18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200" y="22347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3201" y="892348"/>
            <a:ext cx="443192" cy="249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38927" y="1154478"/>
            <a:ext cx="1371744" cy="10733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8"/>
          <p:cNvCxnSpPr/>
          <p:nvPr/>
        </p:nvCxnSpPr>
        <p:spPr>
          <a:xfrm flipH="1" rot="10800000">
            <a:off x="1932875" y="1744244"/>
            <a:ext cx="1870200" cy="6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8"/>
          <p:cNvCxnSpPr/>
          <p:nvPr/>
        </p:nvCxnSpPr>
        <p:spPr>
          <a:xfrm flipH="1">
            <a:off x="1907700" y="1889450"/>
            <a:ext cx="1903500" cy="6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8"/>
          <p:cNvSpPr txBox="1"/>
          <p:nvPr/>
        </p:nvSpPr>
        <p:spPr>
          <a:xfrm>
            <a:off x="2395750" y="1682163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21086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many APIs</a:t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4274445" y="2845175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18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89882" y="3123050"/>
            <a:ext cx="1312925" cy="1124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40351" y="2897647"/>
            <a:ext cx="168899" cy="168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8"/>
          <p:cNvSpPr/>
          <p:nvPr/>
        </p:nvSpPr>
        <p:spPr>
          <a:xfrm>
            <a:off x="6331845" y="1738002"/>
            <a:ext cx="1543800" cy="1469400"/>
          </a:xfrm>
          <a:prstGeom prst="roundRect">
            <a:avLst>
              <a:gd fmla="val 16667" name="adj"/>
            </a:avLst>
          </a:prstGeom>
          <a:noFill/>
          <a:ln cap="flat" cmpd="sng" w="3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5700" lIns="35700" spcFirstLastPara="1" rIns="35700" wrap="square" tIns="3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6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6" name="Google Shape;116;p18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6599" y="2035100"/>
            <a:ext cx="1186612" cy="1073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889326" y="1740146"/>
            <a:ext cx="443200" cy="2949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8"/>
          <p:cNvCxnSpPr/>
          <p:nvPr/>
        </p:nvCxnSpPr>
        <p:spPr>
          <a:xfrm>
            <a:off x="1976777" y="3028047"/>
            <a:ext cx="1870200" cy="621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18"/>
          <p:cNvCxnSpPr/>
          <p:nvPr/>
        </p:nvCxnSpPr>
        <p:spPr>
          <a:xfrm rot="10800000">
            <a:off x="1951602" y="2875640"/>
            <a:ext cx="1903500" cy="6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0" name="Google Shape;120;p18"/>
          <p:cNvSpPr txBox="1"/>
          <p:nvPr/>
        </p:nvSpPr>
        <p:spPr>
          <a:xfrm>
            <a:off x="2819152" y="2834650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" name="Google Shape;121;p18"/>
          <p:cNvCxnSpPr/>
          <p:nvPr/>
        </p:nvCxnSpPr>
        <p:spPr>
          <a:xfrm>
            <a:off x="2152987" y="2723725"/>
            <a:ext cx="3911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18"/>
          <p:cNvCxnSpPr/>
          <p:nvPr/>
        </p:nvCxnSpPr>
        <p:spPr>
          <a:xfrm rot="10800000">
            <a:off x="2104075" y="2571325"/>
            <a:ext cx="3983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3" name="Google Shape;123;p18"/>
          <p:cNvSpPr txBox="1"/>
          <p:nvPr/>
        </p:nvSpPr>
        <p:spPr>
          <a:xfrm>
            <a:off x="3433775" y="2238950"/>
            <a:ext cx="568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????</a:t>
            </a:r>
            <a:endParaRPr sz="1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5625350" y="71157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31" name="Google Shape;131;p19" title="Screenshot 2025-09-04 at 10.41.0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6650" y="2193069"/>
            <a:ext cx="1092400" cy="106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78" y="733600"/>
            <a:ext cx="344040" cy="1936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9" title="twitter_ba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91471" y="937086"/>
            <a:ext cx="1064859" cy="83317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9"/>
          <p:cNvSpPr/>
          <p:nvPr/>
        </p:nvSpPr>
        <p:spPr>
          <a:xfrm>
            <a:off x="5641415" y="3392535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5" name="Google Shape;135;p19" title="fb_bad_api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31027" y="3608243"/>
            <a:ext cx="1019197" cy="872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58345" y="3433268"/>
            <a:ext cx="131113" cy="131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19"/>
          <p:cNvCxnSpPr/>
          <p:nvPr/>
        </p:nvCxnSpPr>
        <p:spPr>
          <a:xfrm flipH="1" rot="10800000">
            <a:off x="2999675" y="1057844"/>
            <a:ext cx="2216400" cy="13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9"/>
          <p:cNvCxnSpPr/>
          <p:nvPr/>
        </p:nvCxnSpPr>
        <p:spPr>
          <a:xfrm flipH="1">
            <a:off x="2974550" y="1235400"/>
            <a:ext cx="2249700" cy="128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" name="Google Shape;139;p19"/>
          <p:cNvSpPr txBox="1"/>
          <p:nvPr>
            <p:ph type="title"/>
          </p:nvPr>
        </p:nvSpPr>
        <p:spPr>
          <a:xfrm>
            <a:off x="311700" y="210875"/>
            <a:ext cx="343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 many LLM apps</a:t>
            </a:r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5638336" y="2007737"/>
            <a:ext cx="1198200" cy="1140600"/>
          </a:xfrm>
          <a:prstGeom prst="roundRect">
            <a:avLst>
              <a:gd fmla="val 16667" name="adj"/>
            </a:avLst>
          </a:prstGeom>
          <a:noFill/>
          <a:ln cap="flat" cmpd="sng" w="28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7725" lIns="27725" spcFirstLastPara="1" rIns="27725" wrap="square" tIns="277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4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1" name="Google Shape;141;p19" title="soap_api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89521" y="2238367"/>
            <a:ext cx="921146" cy="8331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71099" y="2009401"/>
            <a:ext cx="344046" cy="22896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19"/>
          <p:cNvCxnSpPr/>
          <p:nvPr/>
        </p:nvCxnSpPr>
        <p:spPr>
          <a:xfrm>
            <a:off x="3043577" y="3028047"/>
            <a:ext cx="2132100" cy="106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19"/>
          <p:cNvCxnSpPr/>
          <p:nvPr/>
        </p:nvCxnSpPr>
        <p:spPr>
          <a:xfrm rot="10800000">
            <a:off x="3018375" y="2875550"/>
            <a:ext cx="2100900" cy="101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5" name="Google Shape;145;p19" title="ChatGPT Image Sep 5, 2025, 11_17_46 PM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540373" y="3308779"/>
            <a:ext cx="1124175" cy="1124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6" name="Google Shape;146;p19"/>
          <p:cNvCxnSpPr/>
          <p:nvPr/>
        </p:nvCxnSpPr>
        <p:spPr>
          <a:xfrm>
            <a:off x="3010262" y="40625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7" name="Google Shape;147;p19"/>
          <p:cNvCxnSpPr/>
          <p:nvPr/>
        </p:nvCxnSpPr>
        <p:spPr>
          <a:xfrm rot="10800000">
            <a:off x="2984983" y="39100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8" name="Google Shape;148;p19" title="ChatGPT Image Sep 5, 2025, 11_15_36 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40700" y="989724"/>
            <a:ext cx="1092401" cy="10924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9" name="Google Shape;149;p19"/>
          <p:cNvCxnSpPr/>
          <p:nvPr/>
        </p:nvCxnSpPr>
        <p:spPr>
          <a:xfrm>
            <a:off x="3011278" y="2767148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0" name="Google Shape;150;p19"/>
          <p:cNvCxnSpPr/>
          <p:nvPr/>
        </p:nvCxnSpPr>
        <p:spPr>
          <a:xfrm rot="10800000">
            <a:off x="2986000" y="2614650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19"/>
          <p:cNvCxnSpPr/>
          <p:nvPr/>
        </p:nvCxnSpPr>
        <p:spPr>
          <a:xfrm>
            <a:off x="3010262" y="1616074"/>
            <a:ext cx="21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19"/>
          <p:cNvCxnSpPr/>
          <p:nvPr/>
        </p:nvCxnSpPr>
        <p:spPr>
          <a:xfrm rot="10800000">
            <a:off x="2984983" y="1463575"/>
            <a:ext cx="222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3" name="Google Shape;153;p19"/>
          <p:cNvCxnSpPr/>
          <p:nvPr/>
        </p:nvCxnSpPr>
        <p:spPr>
          <a:xfrm>
            <a:off x="3033469" y="1920874"/>
            <a:ext cx="2113500" cy="56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19"/>
          <p:cNvCxnSpPr/>
          <p:nvPr/>
        </p:nvCxnSpPr>
        <p:spPr>
          <a:xfrm rot="10800000">
            <a:off x="3008200" y="1768350"/>
            <a:ext cx="2154000" cy="577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19"/>
          <p:cNvCxnSpPr/>
          <p:nvPr/>
        </p:nvCxnSpPr>
        <p:spPr>
          <a:xfrm>
            <a:off x="3046089" y="1828525"/>
            <a:ext cx="2154000" cy="1675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6" name="Google Shape;156;p19"/>
          <p:cNvCxnSpPr/>
          <p:nvPr/>
        </p:nvCxnSpPr>
        <p:spPr>
          <a:xfrm rot="10800000">
            <a:off x="3020850" y="1676050"/>
            <a:ext cx="2171100" cy="167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7" name="Google Shape;157;p19"/>
          <p:cNvCxnSpPr/>
          <p:nvPr/>
        </p:nvCxnSpPr>
        <p:spPr>
          <a:xfrm flipH="1" rot="10800000">
            <a:off x="2994113" y="3011974"/>
            <a:ext cx="2189700" cy="73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9"/>
          <p:cNvCxnSpPr/>
          <p:nvPr/>
        </p:nvCxnSpPr>
        <p:spPr>
          <a:xfrm flipH="1">
            <a:off x="2968700" y="2858400"/>
            <a:ext cx="2207100" cy="73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19"/>
          <p:cNvCxnSpPr/>
          <p:nvPr/>
        </p:nvCxnSpPr>
        <p:spPr>
          <a:xfrm flipH="1" rot="10800000">
            <a:off x="2977963" y="1865150"/>
            <a:ext cx="2189700" cy="178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19"/>
          <p:cNvCxnSpPr/>
          <p:nvPr/>
        </p:nvCxnSpPr>
        <p:spPr>
          <a:xfrm flipH="1">
            <a:off x="2952550" y="1703725"/>
            <a:ext cx="2207100" cy="17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</a:t>
            </a:r>
            <a:endParaRPr/>
          </a:p>
        </p:txBody>
      </p:sp>
      <p:sp>
        <p:nvSpPr>
          <p:cNvPr id="166" name="Google Shape;166;p20"/>
          <p:cNvSpPr txBox="1"/>
          <p:nvPr>
            <p:ph idx="1" type="body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MCP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Does away with the need to build M x N connectors from LLM host/agent to underlying tool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Don’t need to reimplement auth, error handling, rate-limiting, etc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Enforces consistent output format using JSON-RPC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Extends from Language Server Protocols</a:t>
            </a:r>
            <a:endParaRPr sz="1600"/>
          </a:p>
          <a:p>
            <a:pPr indent="-330200" lvl="2" marL="1371600" rtl="0" algn="l">
              <a:spcBef>
                <a:spcPts val="0"/>
              </a:spcBef>
              <a:spcAft>
                <a:spcPts val="0"/>
              </a:spcAft>
              <a:buSzPts val="1600"/>
              <a:buChar char="■"/>
            </a:pPr>
            <a:r>
              <a:rPr lang="en" sz="1600"/>
              <a:t>Allows for proactive agentic workflows rather than purely reactive ones as in LSP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Integrating with tools goes from M x N </a:t>
            </a:r>
            <a:r>
              <a:rPr lang="en" sz="1950">
                <a:solidFill>
                  <a:schemeClr val="dk1"/>
                </a:solidFill>
              </a:rPr>
              <a:t>→</a:t>
            </a:r>
            <a:r>
              <a:rPr lang="en" sz="1600"/>
              <a:t>M + N connectors</a:t>
            </a:r>
            <a:endParaRPr sz="1600"/>
          </a:p>
        </p:txBody>
      </p:sp>
      <p:sp>
        <p:nvSpPr>
          <p:cNvPr id="167" name="Google Shape;167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MCP A Bit Deeper</a:t>
            </a:r>
            <a:endParaRPr/>
          </a:p>
        </p:txBody>
      </p:sp>
      <p:sp>
        <p:nvSpPr>
          <p:cNvPr id="174" name="Google Shape;174;p21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Terminology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Host</a:t>
            </a:r>
            <a:r>
              <a:rPr lang="en"/>
              <a:t>: Cursor, Claude Desktop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Client</a:t>
            </a:r>
            <a:r>
              <a:rPr lang="en"/>
              <a:t>: Library embedded on host (stateful session per server)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MCP Server</a:t>
            </a:r>
            <a:r>
              <a:rPr lang="en"/>
              <a:t>: Lightweight wrapper in front of a tool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Tool</a:t>
            </a:r>
            <a:r>
              <a:rPr lang="en"/>
              <a:t>: Callable function (could be data source, API)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Flow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Client calls tools/list to MCP server (what can you do?)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Server returns JSON describing each tool (name, summary, JSON schema)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Host injects that JSON into model’s context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User prompt triggers model, emitting a structured tool call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MCP server executes and conversation resumes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MCP provides stdio and SSE transport layer</a:t>
            </a: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83" name="Google Shape;18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3324" y="1865153"/>
            <a:ext cx="510112" cy="510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2424" y="2375266"/>
            <a:ext cx="510111" cy="51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43579" y="1394484"/>
            <a:ext cx="399045" cy="39904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2"/>
          <p:cNvSpPr/>
          <p:nvPr/>
        </p:nvSpPr>
        <p:spPr>
          <a:xfrm>
            <a:off x="2973350" y="1226300"/>
            <a:ext cx="5805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5900" lIns="65900" spcFirstLastPara="1" rIns="65900" wrap="square" tIns="65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9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7" name="Google Shape;187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7100" y="1854148"/>
            <a:ext cx="673500" cy="67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/>
          <p:nvPr/>
        </p:nvSpPr>
        <p:spPr>
          <a:xfrm>
            <a:off x="2857014" y="914150"/>
            <a:ext cx="696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client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9" name="Google Shape;189;p22"/>
          <p:cNvSpPr/>
          <p:nvPr/>
        </p:nvSpPr>
        <p:spPr>
          <a:xfrm flipH="1">
            <a:off x="1434600" y="1196778"/>
            <a:ext cx="1125000" cy="581100"/>
          </a:xfrm>
          <a:prstGeom prst="flowChartMagneticTap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502225" y="1243653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Summarize my emails from Jack</a:t>
            </a:r>
            <a:endParaRPr sz="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872900" y="1226300"/>
            <a:ext cx="840600" cy="1741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300" lIns="50300" spcFirstLastPara="1" rIns="50300" wrap="square" tIns="50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7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2" name="Google Shape;192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9537" y="1339001"/>
            <a:ext cx="466650" cy="349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 rot="10800000">
            <a:off x="6067526" y="1835423"/>
            <a:ext cx="466648" cy="558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90800" y="2500775"/>
            <a:ext cx="466650" cy="3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2"/>
          <p:cNvSpPr txBox="1"/>
          <p:nvPr/>
        </p:nvSpPr>
        <p:spPr>
          <a:xfrm>
            <a:off x="5919877" y="914150"/>
            <a:ext cx="808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MCP server</a:t>
            </a:r>
            <a:endParaRPr b="1" sz="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41699" y="1280588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1936452"/>
            <a:ext cx="389325" cy="38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871974" y="2484820"/>
            <a:ext cx="389325" cy="389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2"/>
          <p:cNvCxnSpPr/>
          <p:nvPr/>
        </p:nvCxnSpPr>
        <p:spPr>
          <a:xfrm>
            <a:off x="6939300" y="1433350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22"/>
          <p:cNvCxnSpPr/>
          <p:nvPr/>
        </p:nvCxnSpPr>
        <p:spPr>
          <a:xfrm rot="10800000">
            <a:off x="6939300" y="1539826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1" name="Google Shape;201;p22"/>
          <p:cNvCxnSpPr/>
          <p:nvPr/>
        </p:nvCxnSpPr>
        <p:spPr>
          <a:xfrm>
            <a:off x="6916075" y="20927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2" name="Google Shape;202;p22"/>
          <p:cNvCxnSpPr/>
          <p:nvPr/>
        </p:nvCxnSpPr>
        <p:spPr>
          <a:xfrm rot="10800000">
            <a:off x="6916075" y="219923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3" name="Google Shape;203;p22"/>
          <p:cNvCxnSpPr/>
          <p:nvPr/>
        </p:nvCxnSpPr>
        <p:spPr>
          <a:xfrm>
            <a:off x="6927700" y="2645688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4" name="Google Shape;204;p22"/>
          <p:cNvCxnSpPr/>
          <p:nvPr/>
        </p:nvCxnSpPr>
        <p:spPr>
          <a:xfrm rot="10800000">
            <a:off x="6927700" y="2752163"/>
            <a:ext cx="673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05" name="Google Shape;205;p22" title="Screenshot 2025-09-04 at 10.41.08 PM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35805" y="3467125"/>
            <a:ext cx="655746" cy="637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6" name="Google Shape;206;p22"/>
          <p:cNvCxnSpPr/>
          <p:nvPr/>
        </p:nvCxnSpPr>
        <p:spPr>
          <a:xfrm>
            <a:off x="1970325" y="1977459"/>
            <a:ext cx="7347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7" name="Google Shape;207;p22"/>
          <p:cNvSpPr txBox="1"/>
          <p:nvPr/>
        </p:nvSpPr>
        <p:spPr>
          <a:xfrm>
            <a:off x="2238200" y="1701947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2016250" y="1935773"/>
            <a:ext cx="6969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Ask query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09" name="Google Shape;209;p22"/>
          <p:cNvCxnSpPr/>
          <p:nvPr/>
        </p:nvCxnSpPr>
        <p:spPr>
          <a:xfrm>
            <a:off x="3722925" y="1398475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0" name="Google Shape;210;p22"/>
          <p:cNvSpPr txBox="1"/>
          <p:nvPr/>
        </p:nvSpPr>
        <p:spPr>
          <a:xfrm>
            <a:off x="4600400" y="1122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4454649" y="1463091"/>
            <a:ext cx="6969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Get tools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2" name="Google Shape;212;p22"/>
          <p:cNvCxnSpPr/>
          <p:nvPr/>
        </p:nvCxnSpPr>
        <p:spPr>
          <a:xfrm rot="10800000">
            <a:off x="3699283" y="1489643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3" name="Google Shape;213;p22"/>
          <p:cNvCxnSpPr/>
          <p:nvPr/>
        </p:nvCxnSpPr>
        <p:spPr>
          <a:xfrm rot="10800000">
            <a:off x="3676661" y="2706572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22"/>
          <p:cNvCxnSpPr/>
          <p:nvPr/>
        </p:nvCxnSpPr>
        <p:spPr>
          <a:xfrm>
            <a:off x="3202799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5" name="Google Shape;215;p22"/>
          <p:cNvCxnSpPr/>
          <p:nvPr/>
        </p:nvCxnSpPr>
        <p:spPr>
          <a:xfrm rot="10800000">
            <a:off x="3324583" y="3054105"/>
            <a:ext cx="0" cy="32640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" name="Google Shape;216;p22"/>
          <p:cNvSpPr txBox="1"/>
          <p:nvPr/>
        </p:nvSpPr>
        <p:spPr>
          <a:xfrm>
            <a:off x="2954956" y="3027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7" name="Google Shape;217;p22"/>
          <p:cNvSpPr txBox="1"/>
          <p:nvPr/>
        </p:nvSpPr>
        <p:spPr>
          <a:xfrm>
            <a:off x="3387850" y="3032675"/>
            <a:ext cx="11250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query and pick tool with params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18" name="Google Shape;218;p22"/>
          <p:cNvCxnSpPr/>
          <p:nvPr/>
        </p:nvCxnSpPr>
        <p:spPr>
          <a:xfrm>
            <a:off x="3669007" y="2607750"/>
            <a:ext cx="20898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9" name="Google Shape;219;p22"/>
          <p:cNvSpPr txBox="1"/>
          <p:nvPr/>
        </p:nvSpPr>
        <p:spPr>
          <a:xfrm>
            <a:off x="4600400" y="2265963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22"/>
          <p:cNvSpPr txBox="1"/>
          <p:nvPr/>
        </p:nvSpPr>
        <p:spPr>
          <a:xfrm>
            <a:off x="3851928" y="2683283"/>
            <a:ext cx="1922400" cy="3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Call function for tool and get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1" name="Google Shape;221;p22"/>
          <p:cNvCxnSpPr/>
          <p:nvPr/>
        </p:nvCxnSpPr>
        <p:spPr>
          <a:xfrm rot="10800000">
            <a:off x="1970402" y="2435484"/>
            <a:ext cx="719400" cy="0"/>
          </a:xfrm>
          <a:prstGeom prst="straightConnector1">
            <a:avLst/>
          </a:prstGeom>
          <a:noFill/>
          <a:ln cap="flat" cmpd="sng" w="9525">
            <a:solidFill>
              <a:srgbClr val="99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2" name="Google Shape;222;p22"/>
          <p:cNvSpPr txBox="1"/>
          <p:nvPr/>
        </p:nvSpPr>
        <p:spPr>
          <a:xfrm>
            <a:off x="1947025" y="2414201"/>
            <a:ext cx="852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Send response</a:t>
            </a:r>
            <a:endParaRPr i="1" sz="8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22"/>
          <p:cNvSpPr txBox="1"/>
          <p:nvPr/>
        </p:nvSpPr>
        <p:spPr>
          <a:xfrm>
            <a:off x="2230321" y="2142442"/>
            <a:ext cx="16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900FF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sz="1000">
              <a:solidFill>
                <a:srgbClr val="99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custom MCP server from scratch!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4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sp>
        <p:nvSpPr>
          <p:cNvPr id="237" name="Google Shape;237;p24"/>
          <p:cNvSpPr txBox="1"/>
          <p:nvPr>
            <p:ph idx="1" type="body"/>
          </p:nvPr>
        </p:nvSpPr>
        <p:spPr>
          <a:xfrm>
            <a:off x="311700" y="970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Agents don’t handle many tools very well today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APIs eat up your context window quickly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 APIs to be AI-native rather that rigid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3125700" y="1920075"/>
            <a:ext cx="2892600" cy="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4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